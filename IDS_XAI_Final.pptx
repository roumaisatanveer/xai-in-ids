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54864" cy="5102352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926080" cy="29260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645920"/>
            <a:ext cx="1828800" cy="18288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Artificial Intelligence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Intrusion Detection Systems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Survey and Future Directions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260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292608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9260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926080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9260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292608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9260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/ IoT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926080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9260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6G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50292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67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Roumaisa Tanveer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40782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BITF22M033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34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Technology, University of the Punjab, Lahore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IDS needs Explainable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7764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3566160"/>
          </a:xfrm>
          <a:prstGeom prst="rect">
            <a:avLst/>
          </a:prstGeom>
          <a:solidFill>
            <a:srgbClr val="E53E3E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threats are growing in sophistication and scale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IDS achieve 99%+ accuracy on benchmark datasets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their black-box nature limits operational trust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operators cannot interrogate WHY traffic was flagged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Undermines auditability and incident response workflows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60120"/>
            <a:ext cx="54864" cy="356616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XAI SOLUTION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provides human-readable explanations of model decisions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operator trust and accelerates root-cause analysis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enterprise, IoT, edge, and 5G/6G deployments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produce per-decision feature attributions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architectures expose internal information routing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183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Contributions: (1) XAI taxonomy for IDS   (2) Critical comparison of XAI-augmented architectures   (3) Research gaps &amp; future agenda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Intrusion Detection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paradigms — how networks are monitored for attacks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43891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" y="1490472"/>
            <a:ext cx="248716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Rule-driven detection using known attack fingerprints.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false-positive rate.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against zero-day and evolving attacks.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18688" y="960120"/>
            <a:ext cx="27432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960120"/>
            <a:ext cx="2743200" cy="438912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960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Anomaly-Based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46704" y="1490472"/>
            <a:ext cx="248716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ML/statistical models to detect deviations from normal traffic.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detection potential for new threats.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false-positive rate.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08192" y="960120"/>
            <a:ext cx="27432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960120"/>
            <a:ext cx="2743200" cy="43891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960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1490472"/>
            <a:ext cx="248716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paradigms.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detection breadth and precision.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production IDS systems.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" y="440740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 USED IN SURVEYED PAPERS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 Cup 99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01368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01368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82696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CICIDS-2017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64024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45352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ToN-IoT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4663440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466344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5G-NIDD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XAI Techniques for IDS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dimensions: scope, model dependency, output, overhead, lifecycle phase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vs Local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75104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Dependency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48256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Agnostic vs Specific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22192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/ Rules / Heatmaps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22976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96912" y="960120"/>
            <a:ext cx="1627632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100584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Phase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70064" y="126187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Detection / Forensics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193852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1938528"/>
            <a:ext cx="2084832" cy="27432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568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225856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Global + Local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Additive scores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Detection &amp; Forensics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enables fast computation for tree ensembles used widely in IDS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32304" y="193852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2304" y="1938528"/>
            <a:ext cx="2084832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19568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05456" y="225856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 only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Linear surrogate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Alert triage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interpretable surrogate in neighbourhood of flagged instance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93852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938528"/>
            <a:ext cx="2084832" cy="2743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9568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225856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 + Global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Heatmaps / weights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explanation — no extra computation needed post-training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94576" y="193852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94576" y="1938528"/>
            <a:ext cx="2084832" cy="2743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195681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Extraction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67728" y="225856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Global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IF-THEN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Forensics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rules; ideal for audit trails and legal compliance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1168" y="340156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" y="3401568"/>
            <a:ext cx="2084832" cy="274320"/>
          </a:xfrm>
          <a:prstGeom prst="rect">
            <a:avLst/>
          </a:prstGeom>
          <a:solidFill>
            <a:srgbClr val="F472B6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41985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372160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Visual heatmaps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feature maps for deep models — visual and intuitive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32304" y="340156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32304" y="3401568"/>
            <a:ext cx="2084832" cy="274320"/>
          </a:xfrm>
          <a:prstGeom prst="rect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05456" y="341985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05456" y="372160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Feature attributions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attributions for deep models via path integration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401568"/>
            <a:ext cx="2084832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401568"/>
            <a:ext cx="2084832" cy="274320"/>
          </a:xfrm>
          <a:prstGeom prst="rect">
            <a:avLst/>
          </a:prstGeom>
          <a:solidFill>
            <a:srgbClr val="FB923C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341985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36592" y="3721608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What-if instances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Forensics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input changes that flip prediction — robustness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Methodologies: SHAP &amp; LIME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dominant post-hoc XAI techniques in IDS literature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393192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SHapley Additive exPlanations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033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cooperative game theory (Shapley values)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feature a marginal contribution value relative to all possible feature coalitions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faithful local explanations for individual predictions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enables polynomial-time computation for tree ensembles — practical for large-scale network traffic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overall feature importance across dataset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why THIS specific connection was flagged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 XAI method in surveyed IDS papers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39319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— Local Interpretable Model-Agnostic Explanations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local decision boundary of black-box classifier around a given instance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an interpretable surrogate model under proximity-weighted loss function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some fidelity for simplicity — readable by analysts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IDS: enables inspection of why a specific flow was flagged as malicious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interactive investigation and incident response workflows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— works with any classifier (RF, XGBoost, DNN)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alert triage — fast, local, one prediction at a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Methodologies: Attention &amp; Mixture of Experts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explainability for IoT and 5G/6G IDS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39319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Mechanisms (IoT IDS)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033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weighted representations over sequences of features or packets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long-range dependencies in network traffic sequences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serve as intrinsic explanations — no post-hoc step needed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IoT IDS: attention maps combined with SHAP/LIME give dual-mode explainability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 importance + temporal relevance simultaneously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Jayaprakash et al. [6]: SA-DNN + Learnable Feature Gating achieves 98–99% on BoT-IoT, N-BaIoT, UNSW-NB15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39319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Mixture of Experts (5G IDS)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Ilias et al. [8] — first MoE-based IDS for 5G networks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traffic feature arrays converted to 2D matrices — processed by CNN layers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Sparsely gated MoE layer: router assigns weights to expert subnetworks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most relevant experts activate per sample — sparse routing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routing patterns correlate with different intrusion types — explainable by design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99.96% accuracy on 5G-NIDD dataset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tested on NANCY dataset (O-RAN 5G Testbed): 79.59% accuracy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— 10 Key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broad XAI-cybersecurity surveys to cutting-edge 5G architectures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60120"/>
            <a:ext cx="1682496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Capuano et al.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9456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XAI-cybersecurity papers. SHAP &amp; LIME dominate post-hoc methods. IEEE Access 2022.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960120"/>
            <a:ext cx="1682496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12848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Rjoub et al.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75104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75104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classification of network threats &amp; XAI methods. IEEE Trans. Net. Svc. Mgmt 2023.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75888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75888" y="960120"/>
            <a:ext cx="1682496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1608" y="9966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1608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68496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Mohale &amp; Obagbuwa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30752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Review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30752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XAI in IDS. Lab-to-deployment gap identified. Frontiers AI 2025.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31536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1536" y="960120"/>
            <a:ext cx="1682496" cy="2743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77256" y="9966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77256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24144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Mohale &amp; Obagbuwa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0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0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ML-IDS benchmarked on UNSW-NB15 with SHAP, LIME &amp; other XAI tools. Frontiers CS 2025.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87184" y="960120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87184" y="960120"/>
            <a:ext cx="1682496" cy="2743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32904" y="9966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32904" y="996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479792" y="1005840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Obagbuwa et al.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42048" y="1289304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1289304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XAI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242048" y="1508760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CICIDS-2017. SHAP identifies port, flow duration &amp; packet length as top features. IJISP 2026.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592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" y="2624328"/>
            <a:ext cx="1682496" cy="2743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0312" y="26609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7200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Jayaprakash et al.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19456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SA-DNN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19456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DNN + learnable feature gating for IoT IDS. SHAP+LIME. 98–99% accuracy. Sci Reports 2025.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920240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624328"/>
            <a:ext cx="1682496" cy="2743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65960" y="26609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6596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212848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Badri et al.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975104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75104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IDS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975104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HED-ID: Stacked BiGRU + Grey Wolf Optimization. 18–22ms latency, 92–115MB RAM. Sci Reports 2025.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75888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75888" y="2624328"/>
            <a:ext cx="1682496" cy="274320"/>
          </a:xfrm>
          <a:prstGeom prst="rect">
            <a:avLst/>
          </a:prstGeom>
          <a:solidFill>
            <a:srgbClr val="F472B6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21608" y="2660904"/>
            <a:ext cx="201168" cy="20116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21608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968496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Ilias et al.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730752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F472B6">
              <a:alpha val="7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30752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MoE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730752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sparse MoE for 5G IDS. 99.96% on 5G-NIDD, 79.59% on NANCY dataset. arXiv 2024.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431536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31536" y="2624328"/>
            <a:ext cx="1682496" cy="274320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77256" y="2660904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77256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724144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Elmrabit et al.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486400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0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486400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evaluation of ML algorithms for anomaly detection. Strong IDS baseline. IEEE Cyber Security 2020.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187184" y="2624328"/>
            <a:ext cx="1682496" cy="1572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87184" y="2624328"/>
            <a:ext cx="1682496" cy="27432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32904" y="266090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32904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479792" y="2670048"/>
            <a:ext cx="1335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Grabowski &amp; Xu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242048" y="2953512"/>
            <a:ext cx="1572768" cy="173736"/>
          </a:xfrm>
          <a:prstGeom prst="roundRect">
            <a:avLst>
              <a:gd name="adj" fmla="val 21053"/>
            </a:avLst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42048" y="295351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7242048" y="3172968"/>
            <a:ext cx="15727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 with dual SHAP+LIME on NSL-KDD &amp; UNSW-NB15. Near-99% + analyst platform. J. Cybersec. Edu. 2025.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XAI-enabled IDS consistently achieve 97–99%+ across benchmark datasets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1005840"/>
            <a:ext cx="19202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078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95728" y="1600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 — 5G-NIDD (MoE)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19202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078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1600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SA-DNN on UNSW-NB15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65392" y="1005840"/>
            <a:ext cx="192024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078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65392" y="1600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IDS inference latency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12848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645920"/>
                <a:gridCol w="1097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XGBoost [4,10]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+ LIME (dual)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NSL-KDD, UNSW-NB15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faithful, analyst-ready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[5]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CICIDS-2017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features: port, duration, pkt len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SA-DNN + LFG [6]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+ LIME + Attn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BoT-IoT, N-BaIoT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99.3–99.6%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Dual-mode XAI, IoT-optimised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HED-ID (S-BiGRU) [7]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CICIDS-2017, UNSW-NB15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Edge-deployable, 18–22ms, 92–115MB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MoE [8]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routing + 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5G-NIDD, NANCY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99.96%, 79.59%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5G MoE IDS, sparse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has NOT yet solved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" y="1078992"/>
            <a:ext cx="402336" cy="402336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10642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Explainability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8056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KernelSHAP introduces non-trivial latency per inference. Streaming-friendly XAI that delivers low-latency explanations without sacrificing reliability is still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107899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10642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92424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perturbations can alter attribution maps without changing model outputs — undermining trust in explanations. Certified XAI methods for IDS remain open.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07899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0568" y="110642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Evaluation Benchmarks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36792" y="1600200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consensus benchmark for explanation quality. Fidelity, stability, and human-grounded comprehensibility are measured inconsistently across studies.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90088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3108960"/>
            <a:ext cx="402336" cy="40233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" y="3136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for 5G/6G &amp; Encrypted Traffic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8056" y="363016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and obfuscation limit feature space to metadata/flow-level statistics only. XAI methods operating effectively under these constraints need further research.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4408" y="2990088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2424" y="3108960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3136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&amp; Privacy-Preserving XAI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92424" y="363016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training on sensitive traffic data raises privacy concerns. Federated IDS frameworks delivering explanations without exposing raw network data are largely unexplored.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08776" y="2990088"/>
            <a:ext cx="2788920" cy="1865376"/>
          </a:xfrm>
          <a:prstGeom prst="rect">
            <a:avLst/>
          </a:prstGeom>
          <a:solidFill>
            <a:srgbClr val="111827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6792" y="3108960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0568" y="31363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&amp; Concept Drift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36792" y="363016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degrade silently as attack patterns evolve. XAI explanations must adapt alongside retraining, and analysts must be alerted when explanation semantics change.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trustworthy IDS needs to go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54864" cy="932688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9304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93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70432" y="1078992"/>
            <a:ext cx="7571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Natural Language Explanations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389888"/>
            <a:ext cx="7571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SHAP bar charts with GPT-class models that write plain English incident summaries: 'Flagged due to SSH brute force — port 22, 5000 packets/s, 0.2s duration.' Bridges gap between technical XAI output and analyst comprehension.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11680"/>
            <a:ext cx="54864" cy="932688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1343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13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70432" y="2103120"/>
            <a:ext cx="7571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&amp; Privacy-Preserving XAI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2414016"/>
            <a:ext cx="7571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organisations train on private traffic data without sharing it. Explaining a model trained on 50 unseen datasets — while preserving data privacy — is a critical open problem for cross-organisational IDS deployments.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850392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35808"/>
            <a:ext cx="54864" cy="93268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3756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375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70432" y="3127248"/>
            <a:ext cx="7571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XAI for IDS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438144"/>
            <a:ext cx="7571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SHAP measures statistical correlation. Future methods should establish causation — not just 'port 22 co-occurs with attacks' but 'port 22 CAUSES this attack pattern.' Causal inference methods are the next frontier.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059936"/>
            <a:ext cx="850392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59936"/>
            <a:ext cx="54864" cy="93268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61688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616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70432" y="4151376"/>
            <a:ext cx="7571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6G/NextG Network Readiness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462272"/>
            <a:ext cx="7571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networks require advanced AI algorithms to evade new security threats. IDS and XAI frameworks must be redesigned for AI-native 6G architectures with extreme capacity, reliability, and efficiency requirements.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536192" cy="841248"/>
          </a:xfrm>
          <a:prstGeom prst="rect">
            <a:avLst/>
          </a:prstGeom>
          <a:solidFill>
            <a:srgbClr val="E53E3E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attack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56232" y="10515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39112" y="804672"/>
            <a:ext cx="1536192" cy="84124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ML-IDS: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75304" y="10515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58184" y="804672"/>
            <a:ext cx="1536192" cy="841248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94376" y="10515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77256" y="804672"/>
            <a:ext cx="1536192" cy="841248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bridges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13448" y="105156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6328" y="804672"/>
            <a:ext cx="1536192" cy="84124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804672"/>
            <a:ext cx="1536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environments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new methods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975104"/>
            <a:ext cx="36576" cy="41148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883664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substantially improves operational utility of IDS without sacrificing detection performance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36576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560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dominate — SHAP for faithful global/local attributions, LIME for fast alert triage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3328416"/>
            <a:ext cx="36576" cy="41148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36976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SA-DNN (IoT), HED-ID (edge), CNN+MoE (5G) represent the deployment-aware frontier of IDS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" y="4005072"/>
            <a:ext cx="36576" cy="41148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136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XAI, adversarial robustness, standardised benchmarks &amp; 6G readiness are the top open challenges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Roumaisa Tanveer  |  BITF22M033  |  Dept. of IT, University of the Punjab, Lahore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in IDS: A Comprehensive Survey</dc:title>
  <dc:subject>PptxGenJS Presentation</dc:subject>
  <dc:creator>PptxGenJS</dc:creator>
  <cp:lastModifiedBy>PptxGenJS</cp:lastModifiedBy>
  <cp:revision>1</cp:revision>
  <dcterms:created xsi:type="dcterms:W3CDTF">2026-04-26T09:03:34Z</dcterms:created>
  <dcterms:modified xsi:type="dcterms:W3CDTF">2026-04-26T09:03:34Z</dcterms:modified>
</cp:coreProperties>
</file>